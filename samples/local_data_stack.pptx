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9C0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559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1371600" cy="6858000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0" y="0"/>
            <a:ext cx="914400" cy="6858000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743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035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217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4572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5943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1645920"/>
            <a:ext cx="1577340" cy="29260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21220"/>
                </a:solidFill>
                <a:latin typeface="Calibri"/>
              </a:rPr>
              <a:t>PROJETO PESSOAL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14884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83464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7ED321"/>
                </a:solidFill>
                <a:latin typeface="Calibri"/>
              </a:rPr>
              <a:t>Data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F5F5"/>
                </a:solidFill>
                <a:latin typeface="Calibri"/>
              </a:rPr>
              <a:t>Plataforma enterprise de dados rodando 100% local.
Custo zero. Ambiente real.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886200"/>
            <a:ext cx="3200400" cy="4114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0" y="1645920"/>
            <a:ext cx="2286000" cy="11887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0" y="1645920"/>
            <a:ext cx="2286000" cy="4114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17373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7ED321"/>
                </a:solidFill>
                <a:latin typeface="Calibri"/>
              </a:rPr>
              <a:t>14+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423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FERRAMENTAS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3108960"/>
            <a:ext cx="2286000" cy="11887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0" y="3108960"/>
            <a:ext cx="2286000" cy="41148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32004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01A8C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FASES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4572000"/>
            <a:ext cx="2286000" cy="11887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0" y="4572000"/>
            <a:ext cx="2286000" cy="4114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466344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7ED321"/>
                </a:solidFill>
                <a:latin typeface="Calibri"/>
              </a:rPr>
              <a:t>R$ 0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53492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CUSTO/MÊS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Visão Geral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41148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03520" cy="182880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303520" cy="41148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01A8C"/>
                </a:solidFill>
                <a:latin typeface="Calibri"/>
              </a:rPr>
              <a:t>OBJETIVO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Consolidar skills de engenheiro de dados sênior simulando um ambiente de produção enterprise real — sem gastar nada.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097280"/>
            <a:ext cx="5303520" cy="182880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097280"/>
            <a:ext cx="5303520" cy="4114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ED321"/>
                </a:solidFill>
                <a:latin typeface="Calibri"/>
              </a:rPr>
              <a:t>MOTIVAÇÃO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5087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Hardware potente disponível localmente (i9 14ª gen, 32 GB RAM, RTX 5070 Ti 16 GB VRAM) — por que não usá-lo como data center pessoal?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91840"/>
            <a:ext cx="3566160" cy="25603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291840"/>
            <a:ext cx="3566160" cy="41148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01A8C"/>
                </a:solidFill>
                <a:latin typeface="Calibri"/>
              </a:rPr>
              <a:t>CUSTO ZERO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Calibri"/>
              </a:rPr>
              <a:t>Somente ferramentas open-source.
Sem cloud, sem licença.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291840"/>
            <a:ext cx="3566160" cy="25603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3291840"/>
            <a:ext cx="3566160" cy="4114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474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ED321"/>
                </a:solidFill>
                <a:latin typeface="Calibri"/>
              </a:rPr>
              <a:t>100% LOCAL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9319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Calibri"/>
              </a:rPr>
              <a:t>Docker Compose com profiles.
Tudo na sua máquina.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3291840"/>
            <a:ext cx="3566160" cy="25603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91840"/>
            <a:ext cx="3566160" cy="411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3474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ENTERPRISE-LIKE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9319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Calibri"/>
              </a:rPr>
              <a:t>Simula pipelines reais:
batch, streaming e 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Stack Tecnológica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4114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97280"/>
            <a:ext cx="2834640" cy="155448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97280"/>
            <a:ext cx="2834640" cy="41148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01A8C"/>
                </a:solidFill>
                <a:latin typeface="Calibri"/>
              </a:rPr>
              <a:t>ORQUESTRAÇÃO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447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Airflow 3+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097280"/>
            <a:ext cx="2834640" cy="155448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54680" y="1097280"/>
            <a:ext cx="2834640" cy="4114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ED321"/>
                </a:solidFill>
                <a:latin typeface="Calibri"/>
              </a:rPr>
              <a:t>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4447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MinIO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737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Apache Iceberg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097280"/>
            <a:ext cx="2834640" cy="155448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1097280"/>
            <a:ext cx="2834640" cy="41148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01A8C"/>
                </a:solidFill>
                <a:latin typeface="Calibri"/>
              </a:rPr>
              <a:t>LAKEHOUSE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4447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Dremio Community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737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Project Nessie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1097280"/>
            <a:ext cx="2834640" cy="155448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1097280"/>
            <a:ext cx="2834640" cy="4114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ED321"/>
                </a:solidFill>
                <a:latin typeface="Calibri"/>
              </a:rPr>
              <a:t>DWH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4447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ClickHouse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2761488"/>
            <a:ext cx="2834640" cy="155448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761488"/>
            <a:ext cx="2834640" cy="41148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8072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01A8C"/>
                </a:solidFill>
                <a:latin typeface="Calibri"/>
              </a:rPr>
              <a:t>TRANSFORMAÇÃO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108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dbt Core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54680" y="2761488"/>
            <a:ext cx="2834640" cy="155448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54680" y="2761488"/>
            <a:ext cx="2834640" cy="4114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28072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ED321"/>
                </a:solidFill>
                <a:latin typeface="Calibri"/>
              </a:rPr>
              <a:t>QUALIDADE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3108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Great Expectations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2761488"/>
            <a:ext cx="2834640" cy="155448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0760" y="2761488"/>
            <a:ext cx="2834640" cy="41148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28072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01A8C"/>
                </a:solidFill>
                <a:latin typeface="Calibri"/>
              </a:rPr>
              <a:t>STREAMING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108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Redpanda (Kafka-compat.)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6840" y="2761488"/>
            <a:ext cx="2834640" cy="155448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06840" y="2761488"/>
            <a:ext cx="2834640" cy="4114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28072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ED321"/>
                </a:solidFill>
                <a:latin typeface="Calibri"/>
              </a:rPr>
              <a:t>INGESTÃO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108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Airbyte OSS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34015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Python custom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4425696"/>
            <a:ext cx="2834640" cy="155448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8600" y="4425696"/>
            <a:ext cx="2834640" cy="41148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44714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01A8C"/>
                </a:solidFill>
                <a:latin typeface="Calibri"/>
              </a:rPr>
              <a:t>CATÁLOGO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7731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OpenMetadata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54680" y="4425696"/>
            <a:ext cx="2834640" cy="155448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54680" y="4425696"/>
            <a:ext cx="2834640" cy="4114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840" y="44714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ED321"/>
                </a:solidFill>
                <a:latin typeface="Calibri"/>
              </a:rPr>
              <a:t>VISUALIZAÇÃO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47731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Apache Superset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80760" y="4425696"/>
            <a:ext cx="2834640" cy="155448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80760" y="4425696"/>
            <a:ext cx="2834640" cy="41148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44714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01A8C"/>
                </a:solidFill>
                <a:latin typeface="Calibri"/>
              </a:rPr>
              <a:t>OBSERVABILIDADE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47731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Grafana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50657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Prometheus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06840" y="4425696"/>
            <a:ext cx="2834640" cy="155448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006840" y="4425696"/>
            <a:ext cx="2834640" cy="4114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0" y="44714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ED321"/>
                </a:solidFill>
                <a:latin typeface="Calibri"/>
              </a:rPr>
              <a:t>AGENTE IA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47731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Ollama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50657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FastAPI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53583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LangChain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0" y="565099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ChromaDB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Arquitetura Medallion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41148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3212" y="1463040"/>
            <a:ext cx="2011680" cy="274320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212" y="1463040"/>
            <a:ext cx="2011680" cy="4114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CCCCC"/>
                </a:solidFill>
                <a:latin typeface="Calibri"/>
              </a:rPr>
              <a:t>FONTES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" y="205740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APIs, DBs,
Arquivos, Streaming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3180" y="26974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7ED321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20924" y="1463040"/>
            <a:ext cx="2011680" cy="274320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20924" y="1463040"/>
            <a:ext cx="2011680" cy="411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2364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A500"/>
                </a:solidFill>
                <a:latin typeface="Calibri"/>
              </a:rPr>
              <a:t>BRONZE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2364" y="205740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Raw data
Ingested as-is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0892" y="26974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7ED321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88636" y="1463040"/>
            <a:ext cx="2011680" cy="274320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88636" y="1463040"/>
            <a:ext cx="2011680" cy="41148"/>
          </a:xfrm>
          <a:prstGeom prst="rect">
            <a:avLst/>
          </a:prstGeom>
          <a:solidFill>
            <a:srgbClr val="87C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0076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7CEFA"/>
                </a:solidFill>
                <a:latin typeface="Calibri"/>
              </a:rPr>
              <a:t>SILVER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0076" y="205740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Dados limpos
e padronizados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8604" y="26974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7ED321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56348" y="1463040"/>
            <a:ext cx="2011680" cy="2743200"/>
          </a:xfrm>
          <a:prstGeom prst="rect">
            <a:avLst/>
          </a:prstGeom>
          <a:solidFill>
            <a:srgbClr val="3A2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6348" y="1463040"/>
            <a:ext cx="2011680" cy="411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7788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700"/>
                </a:solidFill>
                <a:latin typeface="Calibri"/>
              </a:rPr>
              <a:t>GOLD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7788" y="205740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Dados prontos
para consumo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6316" y="26974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7ED321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24060" y="1463040"/>
            <a:ext cx="2011680" cy="274320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24060" y="1463040"/>
            <a:ext cx="2011680" cy="4114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1550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ED321"/>
                </a:solidFill>
                <a:latin typeface="Calibri"/>
              </a:rPr>
              <a:t>CONSUMO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5500" y="205740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BI, APIs,
IA 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12364" y="43434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  <a:latin typeface="Calibri"/>
              </a:rPr>
              <a:t>Airbyte OSS
Redpanda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80076" y="43434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  <a:latin typeface="Calibri"/>
              </a:rPr>
              <a:t>dbt Core
Great Expectations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7788" y="43434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  <a:latin typeface="Calibri"/>
              </a:rPr>
              <a:t>Dremio + Nessie
ClickHouse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5500" y="43434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  <a:latin typeface="Calibri"/>
              </a:rPr>
              <a:t>Superset
AI Agent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212080"/>
            <a:ext cx="11430000" cy="64008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257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01A8C"/>
                </a:solidFill>
                <a:latin typeface="Calibri"/>
              </a:rPr>
              <a:t>Storage transversal: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5257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MinIO (object storage S3-compatible)  +  Apache Iceberg (table format)  →  gerenciado pelo Project Nessie (data catalog)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Roadmap — 7 Fases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4114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2743200" cy="201168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2743200" cy="41148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18872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01A8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23444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Fundação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Docker Compose profiles
Core services + 1ª ingestão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7832" y="1143000"/>
            <a:ext cx="2743200" cy="201168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27832" y="1143000"/>
            <a:ext cx="2743200" cy="4114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18872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7ED321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2" y="123444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Lakehouse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1920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MinIO + Iceberg + Nessie
Dremio Community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5624" y="1143000"/>
            <a:ext cx="2743200" cy="201168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35624" y="1143000"/>
            <a:ext cx="2743200" cy="41148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118872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01A8C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9984" y="123444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Catálogo &amp; Governança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1920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OpenMetadata
Linhagem e metadados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3416" y="1143000"/>
            <a:ext cx="2743200" cy="201168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143000"/>
            <a:ext cx="2743200" cy="4114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53144" y="118872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7ED321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7776" y="123444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Streaming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1920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Redpanda (Kafka)
Pipelines em tempo real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319272"/>
            <a:ext cx="2743200" cy="201168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319272"/>
            <a:ext cx="2743200" cy="41148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3364992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01A8C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410712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Viz &amp; Observabilidade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096512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Superset + Grafana
Prometheus dashboards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27832" y="3319272"/>
            <a:ext cx="2743200" cy="201168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27832" y="3319272"/>
            <a:ext cx="2743200" cy="4114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3364992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7ED321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22192" y="3410712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Agente 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64992" y="4096512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Ollama + LangChain
Text2SQL &amp; RAG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35624" y="3319272"/>
            <a:ext cx="2743200" cy="201168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35624" y="3319272"/>
            <a:ext cx="2743200" cy="41148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45352" y="3364992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01A8C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9984" y="3410712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CI/CD &amp; Maturidade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72784" y="4096512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GitHub Actions
Testes, lint, qualidade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Agente IA — LLM Local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4114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029200" cy="45720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Modelo: Ollama · Qwen2.5-Coder 14B Q4_K_M  |  Backend: FastAPI · LangChain · ChromaDB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5394960" cy="43891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5394960" cy="41148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403604" cy="292608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CASO DE USO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Text2SQL Conversacional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alibri"/>
              </a:rPr>
              <a:t>→  Usuário faz perguntas em linguagem natural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74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alibri"/>
              </a:rPr>
              <a:t>→  Agente consulta metadados do OpenMetadata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690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alibri"/>
              </a:rPr>
              <a:t>→  Gera SQL otimizado para ClickHouse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634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alibri"/>
              </a:rPr>
              <a:t>→  Retorna resposta com contexto de negócio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691640"/>
            <a:ext cx="5394960" cy="43891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691640"/>
            <a:ext cx="5394960" cy="4114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1828800"/>
            <a:ext cx="1403604" cy="29260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21220"/>
                </a:solidFill>
                <a:latin typeface="Calibri"/>
              </a:rPr>
              <a:t>CASO DE USO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945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Architecture Assistant (RAG)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80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alibri"/>
              </a:rPr>
              <a:t>→  Base de conhecimento: PRD + ADRs internos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474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alibri"/>
              </a:rPr>
              <a:t>→  ChromaDB como vector store 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0690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alibri"/>
              </a:rPr>
              <a:t>→  Responde dúvidas sobre decisões de arquitetura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6634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alibri"/>
              </a:rPr>
              <a:t>→  Sem dados saindo da máquina local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Infraestrutura Local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41148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CCCC"/>
                </a:solidFill>
                <a:latin typeface="Calibri"/>
              </a:rPr>
              <a:t>HARDWARE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029200" cy="658368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109728" cy="41148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01A8C"/>
                </a:solidFill>
                <a:latin typeface="Calibri"/>
              </a:rPr>
              <a:t>CPU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58191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Intel Core i9  14ª Geração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5029200" cy="658368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109728" cy="4114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ED321"/>
                </a:solidFill>
                <a:latin typeface="Calibri"/>
              </a:rPr>
              <a:t>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5915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32 GB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63239"/>
            <a:ext cx="5029200" cy="658368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063239"/>
            <a:ext cx="109728" cy="41148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13639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01A8C"/>
                </a:solidFill>
                <a:latin typeface="Calibri"/>
              </a:rPr>
              <a:t>GPU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136391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RTX 5070 Ti — 16 GB VRAM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40479"/>
            <a:ext cx="5029200" cy="658368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840479"/>
            <a:ext cx="109728" cy="4114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91363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ED321"/>
                </a:solidFill>
                <a:latin typeface="Calibri"/>
              </a:rPr>
              <a:t>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913631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WSL2 / Linux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CCCC"/>
                </a:solidFill>
                <a:latin typeface="Calibri"/>
              </a:rPr>
              <a:t>DOCKER COMPOSE PROFILES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508760"/>
            <a:ext cx="5486400" cy="150876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1508760"/>
            <a:ext cx="5486400" cy="41148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01A8C"/>
                </a:solidFill>
                <a:latin typeface="Calibri"/>
              </a:rPr>
              <a:t>--profile 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CCCC"/>
                </a:solidFill>
                <a:latin typeface="Calibri"/>
              </a:rPr>
              <a:t>Fundação — sempre ativo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9659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Airflow  ·  MinIO  ·  ClickHouse  ·  Redpanda  ·  Airbyte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200400"/>
            <a:ext cx="5486400" cy="150876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200400"/>
            <a:ext cx="5486400" cy="4114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ED321"/>
                </a:solidFill>
                <a:latin typeface="Calibri"/>
              </a:rPr>
              <a:t>--profile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32461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CCCC"/>
                </a:solidFill>
                <a:latin typeface="Calibri"/>
              </a:rPr>
              <a:t>Camada analítica completa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65760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Dremio  ·  Nessie  ·  dbt  ·  Great Expectations  ·  OpenMetadata  ·  Superset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892040"/>
            <a:ext cx="5486400" cy="150876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892040"/>
            <a:ext cx="5486400" cy="4114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B86FC"/>
                </a:solidFill>
                <a:latin typeface="Calibri"/>
              </a:rPr>
              <a:t>--profile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937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CCCC"/>
                </a:solidFill>
                <a:latin typeface="Calibri"/>
              </a:rPr>
              <a:t>Stack de IA generativa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3492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Calibri"/>
              </a:rPr>
              <a:t>Ollama  ·  FastAPI  ·  LangChain  ·  ChromaDB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9C0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559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0"/>
            <a:ext cx="1097280" cy="6858000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0" y="0"/>
            <a:ext cx="731520" cy="6858000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Build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7ED321"/>
                </a:solidFill>
                <a:latin typeface="Calibri"/>
              </a:rPr>
              <a:t>Learn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Own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663440"/>
            <a:ext cx="3657600" cy="4114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Calibri"/>
              </a:rPr>
              <a:t>Local Data Stack  —  Projeto Pessoal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371600"/>
            <a:ext cx="882396" cy="292608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21220"/>
                </a:solidFill>
                <a:latin typeface="Calibri"/>
              </a:rPr>
              <a:t>Airflow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371600"/>
            <a:ext cx="708659" cy="29260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21220"/>
                </a:solidFill>
                <a:latin typeface="Calibri"/>
              </a:rPr>
              <a:t>MinIO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32720" y="1371600"/>
            <a:ext cx="88239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21220"/>
                </a:solidFill>
                <a:latin typeface="Calibri"/>
              </a:rPr>
              <a:t>Iceberg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1874520"/>
            <a:ext cx="795528" cy="292608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21220"/>
                </a:solidFill>
                <a:latin typeface="Calibri"/>
              </a:rPr>
              <a:t>Dremio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1874520"/>
            <a:ext cx="1143000" cy="29260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21220"/>
                </a:solidFill>
                <a:latin typeface="Calibri"/>
              </a:rPr>
              <a:t>ClickHouse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32720" y="1874520"/>
            <a:ext cx="534924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21220"/>
                </a:solidFill>
                <a:latin typeface="Calibri"/>
              </a:rPr>
              <a:t>dbt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377440"/>
            <a:ext cx="969264" cy="292608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21220"/>
                </a:solidFill>
                <a:latin typeface="Calibri"/>
              </a:rPr>
              <a:t>Redpanda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0" y="2377440"/>
            <a:ext cx="882396" cy="29260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21220"/>
                </a:solidFill>
                <a:latin typeface="Calibri"/>
              </a:rPr>
              <a:t>Airbyte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32720" y="2377440"/>
            <a:ext cx="131673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21220"/>
                </a:solidFill>
                <a:latin typeface="Calibri"/>
              </a:rPr>
              <a:t>OpenMetadata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880360"/>
            <a:ext cx="969264" cy="292608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21220"/>
                </a:solidFill>
                <a:latin typeface="Calibri"/>
              </a:rPr>
              <a:t>Superset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2880360"/>
            <a:ext cx="882396" cy="29260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21220"/>
                </a:solidFill>
                <a:latin typeface="Calibri"/>
              </a:rPr>
              <a:t>Grafana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32720" y="2880360"/>
            <a:ext cx="79552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21220"/>
                </a:solidFill>
                <a:latin typeface="Calibri"/>
              </a:rPr>
              <a:t>Ollama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3383280"/>
            <a:ext cx="1056132" cy="292608"/>
          </a:xfrm>
          <a:prstGeom prst="rect">
            <a:avLst/>
          </a:prstGeom>
          <a:solidFill>
            <a:srgbClr val="E0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21220"/>
                </a:solidFill>
                <a:latin typeface="Calibri"/>
              </a:rPr>
              <a:t>LangChain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3383280"/>
            <a:ext cx="969264" cy="292608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21220"/>
                </a:solidFill>
                <a:latin typeface="Calibri"/>
              </a:rPr>
              <a:t>ChromaDB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